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8" r:id="rId4"/>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624417" y="3717925"/>
            <a:ext cx="10943167"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4940300"/>
            <a:ext cx="10949517" cy="981075"/>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0"/>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hyperlink" Target="https://www.linkedin.com/posts/ifeoluwa-adegbiran-ayinoluwa-154314288_track0-dataanalysis-activity-7385040724091904001-iBiI?utm_source=share&amp;utm_medium=member_android&amp;rcm=ACoAAEXQUNABJB02UpILHFrb5eCnqv5zcoUMQZs" TargetMode="External"/><Relationship Id="rId1" Type="http://schemas.openxmlformats.org/officeDocument/2006/relationships/hyperlink" Target="https://www.kaggle.com/datasets/shilongzhuang/pizza-sales&#13;&#10;"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4205" y="2268855"/>
            <a:ext cx="10942955" cy="1474470"/>
          </a:xfrm>
        </p:spPr>
        <p:txBody>
          <a:bodyPr/>
          <a:lstStyle/>
          <a:p>
            <a:r>
              <a:rPr lang="en-US" altLang="en-US" sz="4400" dirty="0">
                <a:latin typeface="Poppins Black" panose="00000A00000000000000" charset="0"/>
                <a:cs typeface="Poppins Black" panose="00000A00000000000000" charset="0"/>
              </a:rPr>
              <a:t>Pizza Sales Analysis</a:t>
            </a:r>
            <a:endParaRPr lang="en-US" altLang="en-US" sz="4400" dirty="0">
              <a:latin typeface="Poppins Black" panose="00000A00000000000000" charset="0"/>
              <a:cs typeface="Poppins Black" panose="00000A00000000000000" charset="0"/>
            </a:endParaRPr>
          </a:p>
        </p:txBody>
      </p:sp>
      <p:sp>
        <p:nvSpPr>
          <p:cNvPr id="3" name="Subtitle 2"/>
          <p:cNvSpPr>
            <a:spLocks noGrp="1"/>
          </p:cNvSpPr>
          <p:nvPr>
            <p:ph type="subTitle" idx="1"/>
          </p:nvPr>
        </p:nvSpPr>
        <p:spPr>
          <a:xfrm>
            <a:off x="626745" y="3743325"/>
            <a:ext cx="10949305" cy="2778125"/>
          </a:xfrm>
        </p:spPr>
        <p:txBody>
          <a:bodyPr/>
          <a:lstStyle/>
          <a:p>
            <a:pPr algn="r"/>
            <a:r>
              <a:rPr lang="en-US" altLang="en-US" sz="3000">
                <a:latin typeface="Poppins Light" panose="00000400000000000000" charset="0"/>
                <a:cs typeface="Poppins Light" panose="00000400000000000000" charset="0"/>
              </a:rPr>
              <a:t>HNG Data Analytics Track0</a:t>
            </a:r>
            <a:endParaRPr lang="en-US" altLang="en-US" sz="3000">
              <a:latin typeface="Poppins Light" panose="00000400000000000000" charset="0"/>
              <a:cs typeface="Poppins Light" panose="00000400000000000000" charset="0"/>
            </a:endParaRPr>
          </a:p>
          <a:p>
            <a:pPr algn="r"/>
            <a:r>
              <a:rPr lang="en-US" altLang="en-US" sz="3000" b="1">
                <a:latin typeface="Poppins Light" panose="00000400000000000000" charset="0"/>
                <a:cs typeface="Poppins Light" panose="00000400000000000000" charset="0"/>
              </a:rPr>
              <a:t>NAME: </a:t>
            </a:r>
            <a:r>
              <a:rPr lang="en-US" altLang="en-US" sz="3000">
                <a:latin typeface="Poppins Light" panose="00000400000000000000" charset="0"/>
                <a:cs typeface="Poppins Light" panose="00000400000000000000" charset="0"/>
              </a:rPr>
              <a:t>Adegbiran-Ayinoluwa Ifeoluwa Eniola</a:t>
            </a:r>
            <a:endParaRPr lang="en-US" altLang="en-US" sz="3000">
              <a:latin typeface="Poppins Light" panose="00000400000000000000" charset="0"/>
              <a:cs typeface="Poppins Light" panose="00000400000000000000" charset="0"/>
            </a:endParaRPr>
          </a:p>
          <a:p>
            <a:pPr algn="r"/>
            <a:r>
              <a:rPr lang="en-US" altLang="en-US" sz="3000" b="1" cap="all">
                <a:solidFill>
                  <a:schemeClr val="tx1"/>
                </a:solidFill>
                <a:uFillTx/>
                <a:latin typeface="Poppins Light" panose="00000400000000000000" charset="0"/>
                <a:cs typeface="Poppins Light" panose="00000400000000000000" charset="0"/>
              </a:rPr>
              <a:t>Dataset Source</a:t>
            </a:r>
            <a:r>
              <a:rPr lang="en-US" altLang="en-US" sz="3000" b="1">
                <a:latin typeface="Poppins Light" panose="00000400000000000000" charset="0"/>
                <a:cs typeface="Poppins Light" panose="00000400000000000000" charset="0"/>
              </a:rPr>
              <a:t>:</a:t>
            </a:r>
            <a:r>
              <a:rPr lang="en-US" altLang="en-US" sz="3000">
                <a:latin typeface="Poppins Light" panose="00000400000000000000" charset="0"/>
                <a:cs typeface="Poppins Light" panose="00000400000000000000" charset="0"/>
                <a:hlinkClick r:id="rId1" action="ppaction://hlinkfile"/>
              </a:rPr>
              <a:t>Kaggle-Pizza_Sales</a:t>
            </a:r>
            <a:endParaRPr lang="en-US" altLang="en-US" sz="3000">
              <a:latin typeface="Poppins Light" panose="00000400000000000000" charset="0"/>
              <a:cs typeface="Poppins Light" panose="00000400000000000000" charset="0"/>
              <a:hlinkClick r:id="rId1" action="ppaction://hlinkfile"/>
            </a:endParaRPr>
          </a:p>
          <a:p>
            <a:pPr algn="r"/>
            <a:r>
              <a:rPr lang="en-US" altLang="en-US" sz="3000" b="1" cap="all">
                <a:solidFill>
                  <a:schemeClr val="tx1"/>
                </a:solidFill>
                <a:uFillTx/>
                <a:latin typeface="Poppins Light" panose="00000400000000000000" charset="0"/>
                <a:cs typeface="Poppins Light" panose="00000400000000000000" charset="0"/>
              </a:rPr>
              <a:t>Date</a:t>
            </a:r>
            <a:r>
              <a:rPr lang="en-US" altLang="en-US" sz="3000" b="1">
                <a:latin typeface="Poppins Light" panose="00000400000000000000" charset="0"/>
                <a:cs typeface="Poppins Light" panose="00000400000000000000" charset="0"/>
              </a:rPr>
              <a:t>:</a:t>
            </a:r>
            <a:r>
              <a:rPr lang="en-US" altLang="en-US" sz="3000">
                <a:latin typeface="Poppins Light" panose="00000400000000000000" charset="0"/>
                <a:cs typeface="Poppins Light" panose="00000400000000000000" charset="0"/>
              </a:rPr>
              <a:t> October 17th 2025</a:t>
            </a:r>
            <a:endParaRPr lang="en-US" altLang="en-US" sz="3000">
              <a:latin typeface="Poppins Light" panose="00000400000000000000" charset="0"/>
              <a:cs typeface="Poppins Light" panose="00000400000000000000" charset="0"/>
            </a:endParaRPr>
          </a:p>
          <a:p>
            <a:pPr algn="r"/>
            <a:r>
              <a:rPr lang="en-US" altLang="en-US" sz="3000" b="1">
                <a:latin typeface="Poppins Light" panose="00000400000000000000" charset="0"/>
                <a:cs typeface="Poppins Light" panose="00000400000000000000" charset="0"/>
              </a:rPr>
              <a:t>POST:</a:t>
            </a:r>
            <a:r>
              <a:rPr lang="en-US" altLang="en-US" sz="3000">
                <a:latin typeface="Poppins Light" panose="00000400000000000000" charset="0"/>
                <a:cs typeface="Poppins Light" panose="00000400000000000000" charset="0"/>
              </a:rPr>
              <a:t> </a:t>
            </a:r>
            <a:r>
              <a:rPr lang="en-US" altLang="en-US" sz="3000">
                <a:latin typeface="Poppins Light" panose="00000400000000000000" charset="0"/>
                <a:cs typeface="Poppins Light" panose="00000400000000000000" charset="0"/>
                <a:hlinkClick r:id="rId2" tooltip="" action="ppaction://hlinkfile"/>
              </a:rPr>
              <a:t>Linkedin-Post</a:t>
            </a:r>
            <a:endParaRPr lang="en-US" altLang="en-US" sz="3000">
              <a:latin typeface="Poppins Light" panose="00000400000000000000" charset="0"/>
              <a:cs typeface="Poppins Light" panose="00000400000000000000" charset="0"/>
            </a:endParaRPr>
          </a:p>
          <a:p>
            <a:pPr algn="r"/>
            <a:r>
              <a:rPr lang="en-US" altLang="en-US" sz="3000">
                <a:latin typeface="Poppins Light" panose="00000400000000000000" charset="0"/>
                <a:cs typeface="Poppins Light" panose="00000400000000000000" charset="0"/>
              </a:rPr>
              <a:t> </a:t>
            </a:r>
            <a:endParaRPr lang="en-US" altLang="en-US" sz="3000">
              <a:latin typeface="Poppins Light" panose="00000400000000000000" charset="0"/>
              <a:cs typeface="Poppins Light" panose="00000400000000000000"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Poppins Black" panose="00000A00000000000000" charset="0"/>
                <a:cs typeface="Poppins Black" panose="00000A00000000000000" charset="0"/>
              </a:rPr>
              <a:t>Dataset Overview</a:t>
            </a:r>
            <a:endParaRPr lang="en-US" altLang="en-US" b="1">
              <a:latin typeface="Poppins Black" panose="00000A00000000000000" charset="0"/>
              <a:cs typeface="Poppins Black" panose="00000A00000000000000" charset="0"/>
            </a:endParaRPr>
          </a:p>
        </p:txBody>
      </p:sp>
      <p:sp>
        <p:nvSpPr>
          <p:cNvPr id="3" name="Content Placeholder 2"/>
          <p:cNvSpPr>
            <a:spLocks noGrp="1"/>
          </p:cNvSpPr>
          <p:nvPr>
            <p:ph idx="1"/>
          </p:nvPr>
        </p:nvSpPr>
        <p:spPr/>
        <p:txBody>
          <a:bodyPr/>
          <a:p>
            <a:r>
              <a:rPr lang="en-US" altLang="en-US" sz="3000" b="1"/>
              <a:t>Dataset:</a:t>
            </a:r>
            <a:r>
              <a:rPr lang="en-US" altLang="en-US" sz="3000"/>
              <a:t> Pizza Restaurant Sales</a:t>
            </a:r>
            <a:endParaRPr lang="en-US" altLang="en-US" sz="3000"/>
          </a:p>
          <a:p>
            <a:r>
              <a:rPr lang="en-US" altLang="en-US" sz="3000" b="1"/>
              <a:t>Source:</a:t>
            </a:r>
            <a:r>
              <a:rPr lang="en-US" altLang="en-US" sz="3000"/>
              <a:t> Kaggle</a:t>
            </a:r>
            <a:endParaRPr lang="en-US" altLang="en-US" sz="3000"/>
          </a:p>
          <a:p>
            <a:r>
              <a:rPr lang="en-US" altLang="en-US" sz="3000" b="1"/>
              <a:t>Records:</a:t>
            </a:r>
            <a:r>
              <a:rPr lang="en-US" altLang="en-US" sz="3000"/>
              <a:t> 48,620 rows</a:t>
            </a:r>
            <a:endParaRPr lang="en-US" altLang="en-US" sz="3000"/>
          </a:p>
          <a:p>
            <a:r>
              <a:rPr lang="en-US" altLang="en-US" sz="3000" b="1"/>
              <a:t>Columns (12):</a:t>
            </a:r>
            <a:r>
              <a:rPr lang="en-US" altLang="en-US" sz="3000"/>
              <a:t> Pizza Name, Pizza_category, Pizza_size, Quantity, Unit Price, Order_details_id, Order_id, Pizza_id, Order_date, Order_time, Total_price, Pizza_ingredients</a:t>
            </a:r>
            <a:endParaRPr lang="en-US" altLang="en-US" sz="3000"/>
          </a:p>
          <a:p>
            <a:r>
              <a:rPr lang="en-US" altLang="en-US" sz="3000" b="1"/>
              <a:t>Purpose:</a:t>
            </a:r>
            <a:r>
              <a:rPr lang="en-US" altLang="en-US" sz="3000"/>
              <a:t> To analyze pizza sales performance and trends.</a:t>
            </a:r>
            <a:endParaRPr lang="en-US" altLang="en-US" sz="3000"/>
          </a:p>
          <a:p>
            <a:endParaRPr lang="en-US" altLang="en-US" sz="3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Poppins Black" panose="00000A00000000000000" charset="0"/>
                <a:cs typeface="Poppins Black" panose="00000A00000000000000" charset="0"/>
              </a:rPr>
              <a:t>Research Questions</a:t>
            </a:r>
            <a:endParaRPr lang="en-US" altLang="en-US" b="1">
              <a:latin typeface="Poppins Black" panose="00000A00000000000000" charset="0"/>
              <a:cs typeface="Poppins Black" panose="00000A00000000000000" charset="0"/>
            </a:endParaRPr>
          </a:p>
        </p:txBody>
      </p:sp>
      <p:sp>
        <p:nvSpPr>
          <p:cNvPr id="3" name="Content Placeholder 2"/>
          <p:cNvSpPr>
            <a:spLocks noGrp="1"/>
          </p:cNvSpPr>
          <p:nvPr>
            <p:ph idx="1"/>
          </p:nvPr>
        </p:nvSpPr>
        <p:spPr/>
        <p:txBody>
          <a:bodyPr/>
          <a:p>
            <a:r>
              <a:rPr lang="en-US" altLang="en-US" sz="3000"/>
              <a:t>Q 1. Which pizza category generated the highest total revenue and number of orders?</a:t>
            </a:r>
            <a:endParaRPr lang="en-US" altLang="en-US" sz="3000"/>
          </a:p>
          <a:p>
            <a:r>
              <a:rPr lang="en-US" altLang="en-US" sz="3000"/>
              <a:t>Q 2. How do total sales and number of orders vary across months?</a:t>
            </a:r>
            <a:endParaRPr lang="en-US" altLang="en-US" sz="3000"/>
          </a:p>
          <a:p>
            <a:r>
              <a:rPr lang="en-US" altLang="en-US" sz="3000"/>
              <a:t>Q 3.  Which day of the week records the highest number of orders?</a:t>
            </a:r>
            <a:endParaRPr lang="en-US" altLang="en-US" sz="3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Poppins Black" panose="00000A00000000000000" charset="0"/>
                <a:cs typeface="Poppins Black" panose="00000A00000000000000" charset="0"/>
              </a:rPr>
              <a:t>Data Cleaning</a:t>
            </a:r>
            <a:endParaRPr lang="en-US" altLang="en-US" b="1">
              <a:latin typeface="Poppins Black" panose="00000A00000000000000" charset="0"/>
              <a:cs typeface="Poppins Black" panose="00000A00000000000000" charset="0"/>
            </a:endParaRPr>
          </a:p>
        </p:txBody>
      </p:sp>
      <p:sp>
        <p:nvSpPr>
          <p:cNvPr id="3" name="Content Placeholder 2"/>
          <p:cNvSpPr>
            <a:spLocks noGrp="1"/>
          </p:cNvSpPr>
          <p:nvPr>
            <p:ph idx="1"/>
          </p:nvPr>
        </p:nvSpPr>
        <p:spPr/>
        <p:txBody>
          <a:bodyPr/>
          <a:p>
            <a:r>
              <a:rPr lang="en-US" altLang="en-US" sz="3000"/>
              <a:t>Verified there were no missing or duplicate records.</a:t>
            </a:r>
            <a:endParaRPr lang="en-US" altLang="en-US" sz="3000"/>
          </a:p>
          <a:p>
            <a:r>
              <a:rPr lang="en-US" altLang="en-US" sz="3000"/>
              <a:t>Changed the data type of Unit Price and Total Price columns to Currency format for consistency</a:t>
            </a:r>
            <a:endParaRPr lang="en-US" altLang="en-US" sz="3000"/>
          </a:p>
          <a:p>
            <a:r>
              <a:rPr lang="en-US" altLang="en-US" sz="3000"/>
              <a:t>Added two new columns to enable time-based analysis:</a:t>
            </a:r>
            <a:endParaRPr lang="en-US" altLang="en-US" sz="3000"/>
          </a:p>
          <a:p>
            <a:r>
              <a:rPr lang="en-US" altLang="en-US" sz="3000"/>
              <a:t>DayName - Extracted the day of the week from each order date using ( Date.DayOfWeekName([order_date]))</a:t>
            </a:r>
            <a:endParaRPr lang="en-US" altLang="en-US" sz="3000"/>
          </a:p>
          <a:p>
            <a:r>
              <a:rPr lang="en-US" altLang="en-US" sz="3000"/>
              <a:t>MonthName - Extracted the month name from each order date using (Date.MonthName([order_date]))</a:t>
            </a:r>
            <a:endParaRPr lang="en-US" altLang="en-US" sz="3000"/>
          </a:p>
          <a:p>
            <a:r>
              <a:rPr lang="en-US" altLang="en-US" sz="3000"/>
              <a:t>Checked for duplicates and ensured all date/time were valid.</a:t>
            </a:r>
            <a:endParaRPr lang="en-US" altLang="en-US" sz="3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Poppins Black" panose="00000A00000000000000" charset="0"/>
                <a:cs typeface="Poppins Black" panose="00000A00000000000000" charset="0"/>
              </a:rPr>
              <a:t>Exploratory Summary</a:t>
            </a:r>
            <a:endParaRPr lang="en-US" altLang="en-US" b="1">
              <a:latin typeface="Poppins Black" panose="00000A00000000000000" charset="0"/>
              <a:cs typeface="Poppins Black" panose="00000A00000000000000" charset="0"/>
            </a:endParaRPr>
          </a:p>
        </p:txBody>
      </p:sp>
      <p:graphicFrame>
        <p:nvGraphicFramePr>
          <p:cNvPr id="4" name="Content Placeholder 3"/>
          <p:cNvGraphicFramePr/>
          <p:nvPr>
            <p:ph idx="1"/>
            <p:custDataLst>
              <p:tags r:id="rId1"/>
            </p:custDataLst>
          </p:nvPr>
        </p:nvGraphicFramePr>
        <p:xfrm>
          <a:off x="932180" y="1174750"/>
          <a:ext cx="10138410" cy="4266565"/>
        </p:xfrm>
        <a:graphic>
          <a:graphicData uri="http://schemas.openxmlformats.org/drawingml/2006/table">
            <a:tbl>
              <a:tblPr firstRow="1" bandRow="1">
                <a:tableStyleId>{5C22544A-7EE6-4342-B048-85BDC9FD1C3A}</a:tableStyleId>
              </a:tblPr>
              <a:tblGrid>
                <a:gridCol w="5069205"/>
                <a:gridCol w="5069205"/>
              </a:tblGrid>
              <a:tr h="730885">
                <a:tc>
                  <a:txBody>
                    <a:bodyPr/>
                    <a:p>
                      <a:pPr>
                        <a:buNone/>
                      </a:pPr>
                      <a:r>
                        <a:rPr lang="en-US" sz="3000">
                          <a:latin typeface="Poppins Light" panose="00000400000000000000" charset="0"/>
                          <a:cs typeface="Poppins Light" panose="00000400000000000000" charset="0"/>
                        </a:rPr>
                        <a:t>Metric</a:t>
                      </a:r>
                      <a:endParaRPr lang="en-US" sz="3000">
                        <a:latin typeface="Poppins Light" panose="00000400000000000000" charset="0"/>
                        <a:cs typeface="Poppins Light" panose="00000400000000000000" charset="0"/>
                      </a:endParaRPr>
                    </a:p>
                  </a:txBody>
                  <a:tcPr/>
                </a:tc>
                <a:tc>
                  <a:txBody>
                    <a:bodyPr/>
                    <a:p>
                      <a:pPr>
                        <a:buNone/>
                      </a:pPr>
                      <a:r>
                        <a:rPr lang="en-US" sz="3000">
                          <a:latin typeface="Poppins Light" panose="00000400000000000000" charset="0"/>
                          <a:cs typeface="Poppins Light" panose="00000400000000000000" charset="0"/>
                        </a:rPr>
                        <a:t>Value</a:t>
                      </a:r>
                      <a:endParaRPr lang="en-US" sz="3000">
                        <a:latin typeface="Poppins Light" panose="00000400000000000000" charset="0"/>
                        <a:cs typeface="Poppins Light" panose="00000400000000000000" charset="0"/>
                      </a:endParaRPr>
                    </a:p>
                  </a:txBody>
                  <a:tcPr/>
                </a:tc>
              </a:tr>
              <a:tr h="612140">
                <a:tc>
                  <a:txBody>
                    <a:bodyPr/>
                    <a:p>
                      <a:pPr marL="40005" indent="0" algn="l">
                        <a:spcBef>
                          <a:spcPct val="0"/>
                        </a:spcBef>
                        <a:spcAft>
                          <a:spcPct val="0"/>
                        </a:spcAft>
                      </a:pPr>
                      <a:r>
                        <a:rPr sz="3000">
                          <a:latin typeface="Poppins Light" panose="00000400000000000000" charset="0"/>
                          <a:ea typeface="SimSun" panose="02010600030101010101" pitchFamily="2" charset="-122"/>
                          <a:cs typeface="Poppins Light" panose="00000400000000000000" charset="0"/>
                        </a:rPr>
                        <a:t>Total Revenue</a:t>
                      </a:r>
                      <a:endParaRPr sz="3000">
                        <a:latin typeface="Poppins Light" panose="00000400000000000000" charset="0"/>
                        <a:ea typeface="SimSun" panose="02010600030101010101" pitchFamily="2" charset="-122"/>
                        <a:cs typeface="Poppins Light" panose="00000400000000000000" charset="0"/>
                      </a:endParaRPr>
                    </a:p>
                  </a:txBody>
                  <a:tcPr marL="9525" marR="9525" marT="9525" marB="9525" anchor="ctr" anchorCtr="0"/>
                </a:tc>
                <a:tc>
                  <a:txBody>
                    <a:bodyPr/>
                    <a:p>
                      <a:pPr>
                        <a:buNone/>
                      </a:pPr>
                      <a:r>
                        <a:rPr lang="en-US" altLang="en-US" sz="3000">
                          <a:latin typeface="Poppins Light" panose="00000400000000000000" charset="0"/>
                          <a:cs typeface="Poppins Light" panose="00000400000000000000" charset="0"/>
                        </a:rPr>
                        <a:t>817860.05</a:t>
                      </a:r>
                      <a:endParaRPr lang="en-US" altLang="en-US" sz="3000">
                        <a:latin typeface="Poppins Light" panose="00000400000000000000" charset="0"/>
                        <a:cs typeface="Poppins Light" panose="00000400000000000000" charset="0"/>
                      </a:endParaRPr>
                    </a:p>
                  </a:txBody>
                  <a:tcPr/>
                </a:tc>
              </a:tr>
              <a:tr h="730885">
                <a:tc>
                  <a:txBody>
                    <a:bodyPr/>
                    <a:p>
                      <a:pPr marL="40005" indent="0" algn="l">
                        <a:spcBef>
                          <a:spcPct val="0"/>
                        </a:spcBef>
                        <a:spcAft>
                          <a:spcPct val="0"/>
                        </a:spcAft>
                      </a:pPr>
                      <a:r>
                        <a:rPr sz="3000">
                          <a:latin typeface="Poppins Light" panose="00000400000000000000" charset="0"/>
                          <a:ea typeface="SimSun" panose="02010600030101010101" pitchFamily="2" charset="-122"/>
                          <a:cs typeface="Poppins Light" panose="00000400000000000000" charset="0"/>
                        </a:rPr>
                        <a:t>Total Orders</a:t>
                      </a:r>
                      <a:endParaRPr sz="3000">
                        <a:latin typeface="Poppins Light" panose="00000400000000000000" charset="0"/>
                        <a:ea typeface="SimSun" panose="02010600030101010101" pitchFamily="2" charset="-122"/>
                        <a:cs typeface="Poppins Light" panose="00000400000000000000" charset="0"/>
                      </a:endParaRPr>
                    </a:p>
                  </a:txBody>
                  <a:tcPr marL="9525" marR="9525" marT="9525" marB="9525" anchor="ctr" anchorCtr="0"/>
                </a:tc>
                <a:tc>
                  <a:txBody>
                    <a:bodyPr/>
                    <a:p>
                      <a:pPr>
                        <a:buNone/>
                      </a:pPr>
                      <a:r>
                        <a:rPr lang="en-US" altLang="en-US" sz="3000">
                          <a:latin typeface="Poppins Light" panose="00000400000000000000" charset="0"/>
                          <a:cs typeface="Poppins Light" panose="00000400000000000000" charset="0"/>
                        </a:rPr>
                        <a:t>48620</a:t>
                      </a:r>
                      <a:endParaRPr lang="en-US" altLang="en-US" sz="3000">
                        <a:latin typeface="Poppins Light" panose="00000400000000000000" charset="0"/>
                        <a:cs typeface="Poppins Light" panose="00000400000000000000" charset="0"/>
                      </a:endParaRPr>
                    </a:p>
                  </a:txBody>
                  <a:tcPr/>
                </a:tc>
              </a:tr>
              <a:tr h="730885">
                <a:tc>
                  <a:txBody>
                    <a:bodyPr/>
                    <a:p>
                      <a:pPr marL="40005" indent="0" algn="l">
                        <a:spcBef>
                          <a:spcPct val="0"/>
                        </a:spcBef>
                        <a:spcAft>
                          <a:spcPct val="0"/>
                        </a:spcAft>
                      </a:pPr>
                      <a:r>
                        <a:rPr sz="3000">
                          <a:latin typeface="Poppins Light" panose="00000400000000000000" charset="0"/>
                          <a:ea typeface="SimSun" panose="02010600030101010101" pitchFamily="2" charset="-122"/>
                          <a:cs typeface="Poppins Light" panose="00000400000000000000" charset="0"/>
                        </a:rPr>
                        <a:t>Average Order Value</a:t>
                      </a:r>
                      <a:endParaRPr sz="3000">
                        <a:latin typeface="Poppins Light" panose="00000400000000000000" charset="0"/>
                        <a:ea typeface="SimSun" panose="02010600030101010101" pitchFamily="2" charset="-122"/>
                        <a:cs typeface="Poppins Light" panose="00000400000000000000" charset="0"/>
                      </a:endParaRPr>
                    </a:p>
                  </a:txBody>
                  <a:tcPr marL="9525" marR="9525" marT="9525" marB="9525" anchor="ctr" anchorCtr="0"/>
                </a:tc>
                <a:tc>
                  <a:txBody>
                    <a:bodyPr/>
                    <a:p>
                      <a:pPr>
                        <a:buNone/>
                      </a:pPr>
                      <a:r>
                        <a:rPr lang="en-US" altLang="en-US" sz="3000">
                          <a:latin typeface="Poppins Light" panose="00000400000000000000" charset="0"/>
                          <a:cs typeface="Poppins Light" panose="00000400000000000000" charset="0"/>
                        </a:rPr>
                        <a:t>16.82147367</a:t>
                      </a:r>
                      <a:endParaRPr lang="en-US" altLang="en-US" sz="3000">
                        <a:latin typeface="Poppins Light" panose="00000400000000000000" charset="0"/>
                        <a:cs typeface="Poppins Light" panose="00000400000000000000" charset="0"/>
                      </a:endParaRPr>
                    </a:p>
                  </a:txBody>
                  <a:tcPr/>
                </a:tc>
              </a:tr>
              <a:tr h="730885">
                <a:tc>
                  <a:txBody>
                    <a:bodyPr/>
                    <a:p>
                      <a:pPr marL="40005" indent="0" algn="l">
                        <a:spcBef>
                          <a:spcPct val="0"/>
                        </a:spcBef>
                        <a:spcAft>
                          <a:spcPct val="0"/>
                        </a:spcAft>
                      </a:pPr>
                      <a:r>
                        <a:rPr sz="3000">
                          <a:latin typeface="Poppins Light" panose="00000400000000000000" charset="0"/>
                          <a:ea typeface="SimSun" panose="02010600030101010101" pitchFamily="2" charset="-122"/>
                          <a:cs typeface="Poppins Light" panose="00000400000000000000" charset="0"/>
                        </a:rPr>
                        <a:t>Top Pizza</a:t>
                      </a:r>
                      <a:r>
                        <a:rPr lang="en-US" sz="3000">
                          <a:latin typeface="Poppins Light" panose="00000400000000000000" charset="0"/>
                          <a:ea typeface="SimSun" panose="02010600030101010101" pitchFamily="2" charset="-122"/>
                          <a:cs typeface="Poppins Light" panose="00000400000000000000" charset="0"/>
                        </a:rPr>
                        <a:t> Sold</a:t>
                      </a:r>
                      <a:endParaRPr lang="en-US" sz="3000">
                        <a:latin typeface="Poppins Light" panose="00000400000000000000" charset="0"/>
                        <a:ea typeface="SimSun" panose="02010600030101010101" pitchFamily="2" charset="-122"/>
                        <a:cs typeface="Poppins Light" panose="00000400000000000000" charset="0"/>
                      </a:endParaRPr>
                    </a:p>
                  </a:txBody>
                  <a:tcPr marL="9525" marR="9525" marT="9525" marB="9525" anchor="ctr" anchorCtr="0"/>
                </a:tc>
                <a:tc>
                  <a:txBody>
                    <a:bodyPr/>
                    <a:p>
                      <a:pPr>
                        <a:buNone/>
                      </a:pPr>
                      <a:r>
                        <a:rPr lang="en-US" altLang="en-US" sz="3000">
                          <a:latin typeface="Poppins Light" panose="00000400000000000000" charset="0"/>
                          <a:cs typeface="Poppins Light" panose="00000400000000000000" charset="0"/>
                        </a:rPr>
                        <a:t>The Thai Chicken Pizza</a:t>
                      </a:r>
                      <a:endParaRPr lang="en-US" altLang="en-US" sz="3000">
                        <a:latin typeface="Poppins Light" panose="00000400000000000000" charset="0"/>
                        <a:cs typeface="Poppins Light" panose="00000400000000000000" charset="0"/>
                      </a:endParaRPr>
                    </a:p>
                  </a:txBody>
                  <a:tcPr/>
                </a:tc>
              </a:tr>
              <a:tr h="730885">
                <a:tc>
                  <a:txBody>
                    <a:bodyPr/>
                    <a:p>
                      <a:pPr marL="40005" indent="0" algn="l">
                        <a:spcBef>
                          <a:spcPct val="0"/>
                        </a:spcBef>
                        <a:spcAft>
                          <a:spcPct val="0"/>
                        </a:spcAft>
                      </a:pPr>
                      <a:r>
                        <a:rPr sz="3000">
                          <a:latin typeface="Poppins Light" panose="00000400000000000000" charset="0"/>
                          <a:ea typeface="SimSun" panose="02010600030101010101" pitchFamily="2" charset="-122"/>
                          <a:cs typeface="Poppins Light" panose="00000400000000000000" charset="0"/>
                        </a:rPr>
                        <a:t>Least </a:t>
                      </a:r>
                      <a:r>
                        <a:rPr lang="en-US" sz="3000">
                          <a:latin typeface="Poppins Light" panose="00000400000000000000" charset="0"/>
                          <a:ea typeface="SimSun" panose="02010600030101010101" pitchFamily="2" charset="-122"/>
                          <a:cs typeface="Poppins Light" panose="00000400000000000000" charset="0"/>
                        </a:rPr>
                        <a:t>Pizza </a:t>
                      </a:r>
                      <a:r>
                        <a:rPr sz="3000">
                          <a:latin typeface="Poppins Light" panose="00000400000000000000" charset="0"/>
                          <a:ea typeface="SimSun" panose="02010600030101010101" pitchFamily="2" charset="-122"/>
                          <a:cs typeface="Poppins Light" panose="00000400000000000000" charset="0"/>
                        </a:rPr>
                        <a:t>Sold</a:t>
                      </a:r>
                      <a:endParaRPr sz="3000">
                        <a:latin typeface="Poppins Light" panose="00000400000000000000" charset="0"/>
                        <a:ea typeface="SimSun" panose="02010600030101010101" pitchFamily="2" charset="-122"/>
                        <a:cs typeface="Poppins Light" panose="00000400000000000000" charset="0"/>
                      </a:endParaRPr>
                    </a:p>
                  </a:txBody>
                  <a:tcPr marL="9525" marR="9525" marT="9525" marB="9525" anchor="ctr" anchorCtr="0"/>
                </a:tc>
                <a:tc>
                  <a:txBody>
                    <a:bodyPr/>
                    <a:p>
                      <a:pPr>
                        <a:buNone/>
                      </a:pPr>
                      <a:r>
                        <a:rPr lang="en-US" altLang="en-US" sz="3000">
                          <a:latin typeface="Poppins Light" panose="00000400000000000000" charset="0"/>
                          <a:cs typeface="Poppins Light" panose="00000400000000000000" charset="0"/>
                        </a:rPr>
                        <a:t>The Brie Carre Pizza</a:t>
                      </a:r>
                      <a:endParaRPr lang="en-US" altLang="en-US" sz="3000">
                        <a:latin typeface="Poppins Light" panose="00000400000000000000" charset="0"/>
                        <a:cs typeface="Poppins Light" panose="00000400000000000000" charset="0"/>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28700" y="635"/>
            <a:ext cx="3743960" cy="2056765"/>
          </a:xfrm>
        </p:spPr>
        <p:txBody>
          <a:bodyPr/>
          <a:p>
            <a:r>
              <a:rPr lang="en-US" altLang="en-US" sz="3000">
                <a:latin typeface="Poppins Black" panose="00000A00000000000000" charset="0"/>
                <a:cs typeface="Poppins Black" panose="00000A00000000000000" charset="0"/>
              </a:rPr>
              <a:t>Analysis (Q1): Sales and Order Trends Across Pizza Categories</a:t>
            </a:r>
            <a:endParaRPr lang="en-US" altLang="en-US" sz="3000">
              <a:latin typeface="Poppins Black" panose="00000A00000000000000" charset="0"/>
              <a:cs typeface="Poppins Black" panose="00000A00000000000000" charset="0"/>
            </a:endParaRPr>
          </a:p>
        </p:txBody>
      </p:sp>
      <p:pic>
        <p:nvPicPr>
          <p:cNvPr id="6" name="Content Placeholder 5" descr="pizacate"/>
          <p:cNvPicPr>
            <a:picLocks noChangeAspect="1"/>
          </p:cNvPicPr>
          <p:nvPr>
            <p:ph idx="1"/>
          </p:nvPr>
        </p:nvPicPr>
        <p:blipFill>
          <a:blip r:embed="rId1"/>
          <a:stretch>
            <a:fillRect/>
          </a:stretch>
        </p:blipFill>
        <p:spPr>
          <a:xfrm>
            <a:off x="5207000" y="344170"/>
            <a:ext cx="6445885" cy="5697855"/>
          </a:xfrm>
          <a:prstGeom prst="rect">
            <a:avLst/>
          </a:prstGeom>
        </p:spPr>
      </p:pic>
      <p:sp>
        <p:nvSpPr>
          <p:cNvPr id="5" name="Text Placeholder 4"/>
          <p:cNvSpPr>
            <a:spLocks noGrp="1"/>
          </p:cNvSpPr>
          <p:nvPr>
            <p:ph type="body" sz="half" idx="2"/>
          </p:nvPr>
        </p:nvSpPr>
        <p:spPr>
          <a:xfrm>
            <a:off x="840105" y="2057400"/>
            <a:ext cx="3932555" cy="3985260"/>
          </a:xfrm>
        </p:spPr>
        <p:txBody>
          <a:bodyPr/>
          <a:p>
            <a:pPr marL="285750" indent="-285750">
              <a:buFont typeface="Arial" panose="020B0604020202020204" pitchFamily="34" charset="0"/>
              <a:buChar char="•"/>
            </a:pPr>
            <a:r>
              <a:rPr lang="en-US" altLang="en-US" sz="1800" b="1">
                <a:latin typeface="Poppins Light" panose="00000400000000000000" charset="0"/>
                <a:cs typeface="Poppins Light" panose="00000400000000000000" charset="0"/>
              </a:rPr>
              <a:t>Purpose</a:t>
            </a:r>
            <a:r>
              <a:rPr lang="en-US" altLang="en-US" sz="1800">
                <a:latin typeface="Poppins Light" panose="00000400000000000000" charset="0"/>
                <a:cs typeface="Poppins Light" panose="00000400000000000000" charset="0"/>
              </a:rPr>
              <a:t>: To identify which pizza categories (Classic, Supreme, Veggie, Chicken) drive the most business, both in total income and popularity.</a:t>
            </a:r>
            <a:endParaRPr lang="en-US" altLang="en-US" sz="1800">
              <a:latin typeface="Poppins Light" panose="00000400000000000000" charset="0"/>
              <a:cs typeface="Poppins Light" panose="00000400000000000000" charset="0"/>
            </a:endParaRPr>
          </a:p>
          <a:p>
            <a:pPr>
              <a:buFont typeface="Arial" panose="020B0604020202020204" pitchFamily="34" charset="0"/>
            </a:pPr>
            <a:endParaRPr lang="en-US" altLang="en-US" sz="1800">
              <a:latin typeface="Poppins Light" panose="00000400000000000000" charset="0"/>
              <a:cs typeface="Poppins Light" panose="00000400000000000000" charset="0"/>
            </a:endParaRPr>
          </a:p>
          <a:p>
            <a:pPr marL="285750" indent="-285750">
              <a:buFont typeface="Arial" panose="020B0604020202020204" pitchFamily="34" charset="0"/>
              <a:buChar char="•"/>
            </a:pPr>
            <a:r>
              <a:rPr lang="en-US" altLang="en-US" sz="1800" b="1">
                <a:latin typeface="Poppins Light" panose="00000400000000000000" charset="0"/>
                <a:cs typeface="Poppins Light" panose="00000400000000000000" charset="0"/>
              </a:rPr>
              <a:t>Insight</a:t>
            </a:r>
            <a:r>
              <a:rPr lang="en-US" altLang="en-US" sz="1800">
                <a:latin typeface="Poppins Light" panose="00000400000000000000" charset="0"/>
                <a:cs typeface="Poppins Light" panose="00000400000000000000" charset="0"/>
              </a:rPr>
              <a:t>: Classic pizzas may record the most orders, but over time, Supreme pizzas might generate higher total revenue due to higher prices. Seeing how close in total price it is with Classic but far in order count </a:t>
            </a:r>
            <a:endParaRPr lang="en-US" altLang="en-US" sz="1800">
              <a:latin typeface="Poppins Light" panose="00000400000000000000" charset="0"/>
              <a:cs typeface="Poppins Light" panose="00000400000000000000"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071245" y="0"/>
            <a:ext cx="4048760" cy="2057400"/>
          </a:xfrm>
        </p:spPr>
        <p:txBody>
          <a:bodyPr/>
          <a:p>
            <a:r>
              <a:rPr lang="en-US" altLang="en-US">
                <a:latin typeface="Poppins Black" panose="00000A00000000000000" charset="0"/>
                <a:cs typeface="Poppins Black" panose="00000A00000000000000" charset="0"/>
                <a:sym typeface="+mn-ea"/>
              </a:rPr>
              <a:t>Analysis (Q2): Monthly trends on sales and order count </a:t>
            </a:r>
            <a:endParaRPr lang="en-US" altLang="en-US"/>
          </a:p>
        </p:txBody>
      </p:sp>
      <p:pic>
        <p:nvPicPr>
          <p:cNvPr id="7" name="Content Placeholder 6" descr="pizzamonth"/>
          <p:cNvPicPr>
            <a:picLocks noChangeAspect="1"/>
          </p:cNvPicPr>
          <p:nvPr>
            <p:ph idx="1"/>
          </p:nvPr>
        </p:nvPicPr>
        <p:blipFill>
          <a:blip r:embed="rId1"/>
          <a:stretch>
            <a:fillRect/>
          </a:stretch>
        </p:blipFill>
        <p:spPr>
          <a:xfrm>
            <a:off x="5439410" y="457835"/>
            <a:ext cx="6230620" cy="5607685"/>
          </a:xfrm>
          <a:prstGeom prst="rect">
            <a:avLst/>
          </a:prstGeom>
        </p:spPr>
      </p:pic>
      <p:sp>
        <p:nvSpPr>
          <p:cNvPr id="6" name="Text Placeholder 5"/>
          <p:cNvSpPr>
            <a:spLocks noGrp="1"/>
          </p:cNvSpPr>
          <p:nvPr>
            <p:ph type="body" sz="half" idx="2"/>
          </p:nvPr>
        </p:nvSpPr>
        <p:spPr>
          <a:xfrm>
            <a:off x="840105" y="2057400"/>
            <a:ext cx="4382135" cy="4007485"/>
          </a:xfrm>
        </p:spPr>
        <p:txBody>
          <a:bodyPr/>
          <a:p>
            <a:pPr marL="285750" indent="-285750">
              <a:buFont typeface="Arial" panose="020B0604020202020204" pitchFamily="34" charset="0"/>
              <a:buChar char="•"/>
            </a:pPr>
            <a:r>
              <a:rPr lang="en-US" altLang="en-US" sz="1800" b="1">
                <a:latin typeface="Poppins Light" panose="00000400000000000000" charset="0"/>
                <a:cs typeface="Poppins Light" panose="00000400000000000000" charset="0"/>
              </a:rPr>
              <a:t>Purpose:</a:t>
            </a:r>
            <a:r>
              <a:rPr lang="en-US" altLang="en-US" sz="1800">
                <a:latin typeface="Poppins Light" panose="00000400000000000000" charset="0"/>
                <a:cs typeface="Poppins Light" panose="00000400000000000000" charset="0"/>
              </a:rPr>
              <a:t> To discover trends and seasonality in pizza demand, useful for inventory and staffing decisions.</a:t>
            </a:r>
            <a:endParaRPr lang="en-US" altLang="en-US" sz="1800">
              <a:latin typeface="Poppins Light" panose="00000400000000000000" charset="0"/>
              <a:cs typeface="Poppins Light" panose="00000400000000000000" charset="0"/>
            </a:endParaRPr>
          </a:p>
          <a:p>
            <a:pPr marL="285750" indent="-285750">
              <a:buFont typeface="Arial" panose="020B0604020202020204" pitchFamily="34" charset="0"/>
              <a:buChar char="•"/>
            </a:pPr>
            <a:endParaRPr lang="en-US" altLang="en-US" sz="1800">
              <a:latin typeface="Poppins Light" panose="00000400000000000000" charset="0"/>
              <a:cs typeface="Poppins Light" panose="00000400000000000000" charset="0"/>
            </a:endParaRPr>
          </a:p>
          <a:p>
            <a:pPr marL="285750" indent="-285750">
              <a:buFont typeface="Arial" panose="020B0604020202020204" pitchFamily="34" charset="0"/>
              <a:buChar char="•"/>
            </a:pPr>
            <a:r>
              <a:rPr lang="en-US" altLang="en-US" sz="1800" b="1">
                <a:latin typeface="Poppins Light" panose="00000400000000000000" charset="0"/>
                <a:cs typeface="Poppins Light" panose="00000400000000000000" charset="0"/>
              </a:rPr>
              <a:t>Insight:</a:t>
            </a:r>
            <a:r>
              <a:rPr lang="en-US" altLang="en-US" sz="1800">
                <a:latin typeface="Poppins Light" panose="00000400000000000000" charset="0"/>
                <a:cs typeface="Poppins Light" panose="00000400000000000000" charset="0"/>
              </a:rPr>
              <a:t> July recorded the highest number of orders and total sales, while October had the lowest. This suggests a strong mid-year demand, possibly due to summer holidays and family activities.</a:t>
            </a:r>
            <a:endParaRPr lang="en-US" altLang="en-US" sz="1800">
              <a:latin typeface="Poppins Light" panose="00000400000000000000" charset="0"/>
              <a:cs typeface="Poppins Light" panose="00000400000000000000" charset="0"/>
            </a:endParaRPr>
          </a:p>
          <a:p>
            <a:pPr marL="285750" indent="-285750">
              <a:buFont typeface="Arial" panose="020B0604020202020204" pitchFamily="34" charset="0"/>
              <a:buChar char="•"/>
            </a:pPr>
            <a:r>
              <a:rPr lang="en-US" altLang="en-US" sz="1800">
                <a:latin typeface="Poppins Light" panose="00000400000000000000" charset="0"/>
                <a:cs typeface="Poppins Light" panose="00000400000000000000" charset="0"/>
              </a:rPr>
              <a:t>Sales generally remain steady across months with minor seasonal variations.</a:t>
            </a:r>
            <a:endParaRPr lang="en-US" altLang="en-US" sz="1800">
              <a:latin typeface="Poppins Light" panose="00000400000000000000" charset="0"/>
              <a:cs typeface="Poppins Light" panose="00000400000000000000"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15060" y="-635"/>
            <a:ext cx="3657600" cy="2058035"/>
          </a:xfrm>
        </p:spPr>
        <p:txBody>
          <a:bodyPr/>
          <a:p>
            <a:r>
              <a:rPr lang="en-US" altLang="en-US" sz="3000">
                <a:latin typeface="Poppins Black" panose="00000A00000000000000" charset="0"/>
                <a:cs typeface="Poppins Black" panose="00000A00000000000000" charset="0"/>
              </a:rPr>
              <a:t>Analysis (Q3): Sales and Orders by Day of the Week</a:t>
            </a:r>
            <a:endParaRPr lang="en-US" altLang="en-US" sz="3000">
              <a:latin typeface="Poppins Black" panose="00000A00000000000000" charset="0"/>
              <a:cs typeface="Poppins Black" panose="00000A00000000000000" charset="0"/>
            </a:endParaRPr>
          </a:p>
        </p:txBody>
      </p:sp>
      <p:pic>
        <p:nvPicPr>
          <p:cNvPr id="6" name="Content Placeholder 5" descr="pizzaweek"/>
          <p:cNvPicPr>
            <a:picLocks noChangeAspect="1"/>
          </p:cNvPicPr>
          <p:nvPr>
            <p:ph idx="1"/>
          </p:nvPr>
        </p:nvPicPr>
        <p:blipFill>
          <a:blip r:embed="rId1"/>
          <a:stretch>
            <a:fillRect/>
          </a:stretch>
        </p:blipFill>
        <p:spPr>
          <a:xfrm>
            <a:off x="5127625" y="227330"/>
            <a:ext cx="6621145" cy="5641340"/>
          </a:xfrm>
          <a:prstGeom prst="rect">
            <a:avLst/>
          </a:prstGeom>
        </p:spPr>
      </p:pic>
      <p:sp>
        <p:nvSpPr>
          <p:cNvPr id="5" name="Text Placeholder 4"/>
          <p:cNvSpPr>
            <a:spLocks noGrp="1"/>
          </p:cNvSpPr>
          <p:nvPr>
            <p:ph type="body" sz="half" idx="2"/>
          </p:nvPr>
        </p:nvSpPr>
        <p:spPr/>
        <p:txBody>
          <a:bodyPr/>
          <a:p>
            <a:pPr marL="285750" indent="-285750">
              <a:buFont typeface="Arial" panose="020B0604020202020204" pitchFamily="34" charset="0"/>
              <a:buChar char="•"/>
            </a:pPr>
            <a:r>
              <a:rPr lang="en-US" altLang="en-US" sz="1800" b="1">
                <a:latin typeface="Poppins Light" panose="00000400000000000000" charset="0"/>
                <a:cs typeface="Poppins Light" panose="00000400000000000000" charset="0"/>
              </a:rPr>
              <a:t>Purpose:</a:t>
            </a:r>
            <a:r>
              <a:rPr lang="en-US" altLang="en-US" sz="1800">
                <a:latin typeface="Poppins Light" panose="00000400000000000000" charset="0"/>
                <a:cs typeface="Poppins Light" panose="00000400000000000000" charset="0"/>
              </a:rPr>
              <a:t> To identify the busiest days of operation, useful for scheduling, promotions, and managing workloads.</a:t>
            </a:r>
            <a:endParaRPr lang="en-US" altLang="en-US" sz="1800">
              <a:latin typeface="Poppins Light" panose="00000400000000000000" charset="0"/>
              <a:cs typeface="Poppins Light" panose="00000400000000000000" charset="0"/>
            </a:endParaRPr>
          </a:p>
          <a:p>
            <a:pPr marL="285750" indent="-285750">
              <a:buFont typeface="Arial" panose="020B0604020202020204" pitchFamily="34" charset="0"/>
              <a:buChar char="•"/>
            </a:pPr>
            <a:endParaRPr lang="en-US" altLang="en-US" sz="1800">
              <a:latin typeface="Poppins Light" panose="00000400000000000000" charset="0"/>
              <a:cs typeface="Poppins Light" panose="00000400000000000000" charset="0"/>
            </a:endParaRPr>
          </a:p>
          <a:p>
            <a:pPr marL="285750" indent="-285750">
              <a:buFont typeface="Arial" panose="020B0604020202020204" pitchFamily="34" charset="0"/>
              <a:buChar char="•"/>
            </a:pPr>
            <a:r>
              <a:rPr lang="en-US" altLang="en-US" sz="1800" b="1">
                <a:latin typeface="Poppins Light" panose="00000400000000000000" charset="0"/>
                <a:cs typeface="Poppins Light" panose="00000400000000000000" charset="0"/>
              </a:rPr>
              <a:t>Insight:</a:t>
            </a:r>
            <a:r>
              <a:rPr lang="en-US" altLang="en-US" sz="1800">
                <a:latin typeface="Poppins Light" panose="00000400000000000000" charset="0"/>
                <a:cs typeface="Poppins Light" panose="00000400000000000000" charset="0"/>
              </a:rPr>
              <a:t> Friday and Saturday may be peak days for pizza sales, suggesting higher weekend demand.</a:t>
            </a:r>
            <a:endParaRPr lang="en-US" altLang="en-US" sz="1800">
              <a:latin typeface="Poppins Light" panose="00000400000000000000" charset="0"/>
              <a:cs typeface="Poppins Light" panose="00000400000000000000"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latin typeface="Poppins Black" panose="00000A00000000000000" charset="0"/>
                <a:cs typeface="Poppins Black" panose="00000A00000000000000" charset="0"/>
              </a:rPr>
              <a:t>Insights &amp; Conclusions</a:t>
            </a:r>
            <a:endParaRPr lang="en-US" altLang="en-US">
              <a:latin typeface="Poppins Black" panose="00000A00000000000000" charset="0"/>
              <a:cs typeface="Poppins Black" panose="00000A00000000000000" charset="0"/>
            </a:endParaRPr>
          </a:p>
        </p:txBody>
      </p:sp>
      <p:sp>
        <p:nvSpPr>
          <p:cNvPr id="3" name="Content Placeholder 2"/>
          <p:cNvSpPr>
            <a:spLocks noGrp="1"/>
          </p:cNvSpPr>
          <p:nvPr>
            <p:ph idx="1"/>
          </p:nvPr>
        </p:nvSpPr>
        <p:spPr>
          <a:xfrm>
            <a:off x="609600" y="1174750"/>
            <a:ext cx="10972800" cy="5213985"/>
          </a:xfrm>
        </p:spPr>
        <p:txBody>
          <a:bodyPr/>
          <a:p>
            <a:r>
              <a:rPr lang="en-US" altLang="en-US" sz="3000"/>
              <a:t>Classic and Supreme pizzas dominate revenue share.</a:t>
            </a:r>
            <a:endParaRPr lang="en-US" altLang="en-US" sz="3000"/>
          </a:p>
          <a:p>
            <a:r>
              <a:rPr lang="en-US" altLang="en-US" sz="3000"/>
              <a:t>Fridays &amp; Saturdays have higher demand.</a:t>
            </a:r>
            <a:endParaRPr lang="en-US" altLang="en-US" sz="3000"/>
          </a:p>
          <a:p>
            <a:r>
              <a:rPr lang="en-US" altLang="en-US" sz="3000"/>
              <a:t>It usually busy during lunch and dinner hours</a:t>
            </a:r>
            <a:endParaRPr lang="en-US" altLang="en-US" sz="3000"/>
          </a:p>
          <a:p>
            <a:r>
              <a:rPr lang="en-US" altLang="en-US" sz="3000"/>
              <a:t>Tomatoes, Red pepper and Red onions are ususally found in most pizzas</a:t>
            </a:r>
            <a:endParaRPr lang="en-US" altLang="en-US" sz="3000"/>
          </a:p>
          <a:p>
            <a:r>
              <a:rPr lang="en-US" altLang="en-US" sz="3000"/>
              <a:t>Large sized pizzas are ordered the most </a:t>
            </a:r>
            <a:endParaRPr lang="en-US" altLang="en-US" sz="3000"/>
          </a:p>
          <a:p>
            <a:r>
              <a:rPr lang="en-US" altLang="en-US" sz="3000"/>
              <a:t>It seems the shop opens at 9, but the number of orders at 9 is almost non-existent.</a:t>
            </a:r>
            <a:endParaRPr lang="en-US" altLang="en-US" sz="3000"/>
          </a:p>
          <a:p>
            <a:r>
              <a:rPr lang="en-US" altLang="en-US" sz="3000"/>
              <a:t>Recommendation: Focus promotions on popular pizzas during peak days.</a:t>
            </a:r>
            <a:endParaRPr lang="en-US" altLang="en-US" sz="3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latin typeface="Poppins Black" panose="00000A00000000000000" charset="0"/>
                <a:cs typeface="Poppins Black" panose="00000A00000000000000" charset="0"/>
              </a:rPr>
              <a:t>Limitations &amp; Future Work</a:t>
            </a:r>
            <a:endParaRPr lang="en-US" altLang="en-US">
              <a:latin typeface="Poppins Black" panose="00000A00000000000000" charset="0"/>
              <a:cs typeface="Poppins Black" panose="00000A00000000000000" charset="0"/>
            </a:endParaRPr>
          </a:p>
        </p:txBody>
      </p:sp>
      <p:sp>
        <p:nvSpPr>
          <p:cNvPr id="3" name="Content Placeholder 2"/>
          <p:cNvSpPr>
            <a:spLocks noGrp="1"/>
          </p:cNvSpPr>
          <p:nvPr>
            <p:ph idx="1"/>
          </p:nvPr>
        </p:nvSpPr>
        <p:spPr/>
        <p:txBody>
          <a:bodyPr/>
          <a:p>
            <a:r>
              <a:rPr lang="en-US" altLang="en-US" sz="3000"/>
              <a:t>Dataset doesn’t include customer demographic</a:t>
            </a:r>
            <a:endParaRPr lang="en-US" altLang="en-US" sz="3000"/>
          </a:p>
          <a:p>
            <a:r>
              <a:rPr lang="en-US" altLang="en-US" sz="3000"/>
              <a:t>Only covers a limited time period.</a:t>
            </a:r>
            <a:endParaRPr lang="en-US" altLang="en-US" sz="3000"/>
          </a:p>
          <a:p>
            <a:r>
              <a:rPr lang="en-US" altLang="en-US" sz="3000"/>
              <a:t>Future work:</a:t>
            </a:r>
            <a:endParaRPr lang="en-US" altLang="en-US" sz="3000"/>
          </a:p>
          <a:p>
            <a:pPr lvl="1"/>
            <a:r>
              <a:rPr lang="en-US" altLang="en-US" sz="3000"/>
              <a:t>Visualize using Power BI for dynamic insights.</a:t>
            </a:r>
            <a:endParaRPr lang="en-US" altLang="en-US" sz="3000"/>
          </a:p>
          <a:p>
            <a:pPr lvl="1"/>
            <a:r>
              <a:rPr lang="en-US" altLang="en-US" sz="3000"/>
              <a:t>Predict future demand with time series analysis</a:t>
            </a:r>
            <a:endParaRPr lang="en-US" altLang="en-US" sz="3000"/>
          </a:p>
        </p:txBody>
      </p:sp>
    </p:spTree>
  </p:cSld>
  <p:clrMapOvr>
    <a:masterClrMapping/>
  </p:clrMapOvr>
</p:sld>
</file>

<file path=ppt/tags/tag1.xml><?xml version="1.0" encoding="utf-8"?>
<p:tagLst xmlns:p="http://schemas.openxmlformats.org/presentationml/2006/main">
  <p:tag name="TABLE_ENDDRAG_ORIGIN_RECT" val="798*228"/>
  <p:tag name="TABLE_ENDDRAG_RECT" val="73*92*798*228"/>
</p:tagLst>
</file>

<file path=ppt/theme/theme1.xml><?xml version="1.0" encoding="utf-8"?>
<a:theme xmlns:a="http://schemas.openxmlformats.org/drawingml/2006/main" name="Green Color">
  <a:themeElements>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Green Color">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reen Colo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reen Colo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reen Colo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reen Colo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reen Colo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reen Colo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reen Colo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reen Colo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reen Colo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reen Colo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reen Colo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reen Colo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3058</Words>
  <Application>WPS Presentation</Application>
  <PresentationFormat>Widescreen</PresentationFormat>
  <Paragraphs>96</Paragraphs>
  <Slides>10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Poppins Black</vt:lpstr>
      <vt:lpstr>Poppins Light</vt:lpstr>
      <vt:lpstr>Microsoft YaHei</vt:lpstr>
      <vt:lpstr>Arial Unicode MS</vt:lpstr>
      <vt:lpstr>Calibri</vt:lpstr>
      <vt:lpstr>Green Color</vt:lpstr>
      <vt:lpstr>Pizza Sales Analysis</vt:lpstr>
      <vt:lpstr>Dataset Overview</vt:lpstr>
      <vt:lpstr>Research Questions</vt:lpstr>
      <vt:lpstr>Data Cleaning</vt:lpstr>
      <vt:lpstr>Exploratory Summary</vt:lpstr>
      <vt:lpstr>Analysis (Q1): Sales and Order Trends Across Pizza Categories</vt:lpstr>
      <vt:lpstr>Analysis (Q2): Monthly trends on sales and order count </vt:lpstr>
      <vt:lpstr>Analysis (Q3): Sales and Orders by Day of the Week</vt:lpstr>
      <vt:lpstr>Insights &amp; Conclusions</vt:lpstr>
      <vt:lpstr>Limitations &amp; Future Work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USER</cp:lastModifiedBy>
  <cp:revision>28</cp:revision>
  <dcterms:created xsi:type="dcterms:W3CDTF">2025-07-23T00:59:00Z</dcterms:created>
  <dcterms:modified xsi:type="dcterms:W3CDTF">2025-10-17T20:05:00Z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5174B24D8A964BE0970184570F09BD39_13</vt:lpwstr>
  </property>
  <property fmtid="{D5CDD505-2E9C-101B-9397-08002B2CF9AE}" pid="3" name="KSOProductBuildVer">
    <vt:lpwstr>1033-12.2.0.22549</vt:lpwstr>
  </property>
</Properties>
</file>